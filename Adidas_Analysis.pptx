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4" r:id="rId3"/>
    <p:sldId id="257" r:id="rId4"/>
    <p:sldId id="265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/>
            </a:pPr>
            <a:r>
              <a:rPr lang="en-US" dirty="0"/>
              <a:t>Sales and profit over month</a:t>
            </a:r>
            <a:r>
              <a:rPr lang="en-US" baseline="0" dirty="0"/>
              <a:t>s</a:t>
            </a:r>
            <a:endParaRPr lang="en-US" dirty="0"/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(M)</c:v>
                </c:pt>
              </c:strCache>
            </c:strRef>
          </c:tx>
          <c:spPr>
            <a:ln w="38100" cap="flat">
              <a:solidFill>
                <a:srgbClr val="E91E6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91E63"/>
              </a:solidFill>
              <a:ln w="9525" cap="flat">
                <a:solidFill>
                  <a:srgbClr val="E91E63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4A4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71</c:v>
                </c:pt>
                <c:pt idx="1">
                  <c:v>61</c:v>
                </c:pt>
                <c:pt idx="2">
                  <c:v>57</c:v>
                </c:pt>
                <c:pt idx="3">
                  <c:v>72</c:v>
                </c:pt>
                <c:pt idx="4">
                  <c:v>81</c:v>
                </c:pt>
                <c:pt idx="5">
                  <c:v>75</c:v>
                </c:pt>
                <c:pt idx="6">
                  <c:v>95</c:v>
                </c:pt>
                <c:pt idx="7">
                  <c:v>92</c:v>
                </c:pt>
                <c:pt idx="8">
                  <c:v>78</c:v>
                </c:pt>
                <c:pt idx="9">
                  <c:v>64</c:v>
                </c:pt>
                <c:pt idx="10">
                  <c:v>68</c:v>
                </c:pt>
                <c:pt idx="11">
                  <c:v>86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920-48E2-843B-1561005B80B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Profit (M)</c:v>
                </c:pt>
              </c:strCache>
            </c:strRef>
          </c:tx>
          <c:spPr>
            <a:ln w="38100" cap="flat">
              <a:solidFill>
                <a:srgbClr val="00A65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A651"/>
              </a:solidFill>
              <a:ln w="9525" cap="flat">
                <a:solidFill>
                  <a:srgbClr val="00A65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4A4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25.1</c:v>
                </c:pt>
                <c:pt idx="1">
                  <c:v>21.4</c:v>
                </c:pt>
                <c:pt idx="2">
                  <c:v>20.399999999999999</c:v>
                </c:pt>
                <c:pt idx="3">
                  <c:v>27.6</c:v>
                </c:pt>
                <c:pt idx="4">
                  <c:v>29.9</c:v>
                </c:pt>
                <c:pt idx="5">
                  <c:v>26.7</c:v>
                </c:pt>
                <c:pt idx="6">
                  <c:v>34.1</c:v>
                </c:pt>
                <c:pt idx="7">
                  <c:v>34.5</c:v>
                </c:pt>
                <c:pt idx="8">
                  <c:v>31</c:v>
                </c:pt>
                <c:pt idx="9">
                  <c:v>25.1</c:v>
                </c:pt>
                <c:pt idx="10">
                  <c:v>24.8</c:v>
                </c:pt>
                <c:pt idx="11">
                  <c:v>31.6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C920-48E2-843B-1561005B80B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 Method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29C-4962-94BF-AE820B77723E}"/>
              </c:ext>
            </c:extLst>
          </c:dPt>
          <c:dPt>
            <c:idx val="1"/>
            <c:bubble3D val="0"/>
            <c:spPr>
              <a:solidFill>
                <a:srgbClr val="E91E6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29C-4962-94BF-AE820B77723E}"/>
              </c:ext>
            </c:extLst>
          </c:dPt>
          <c:dPt>
            <c:idx val="2"/>
            <c:bubble3D val="0"/>
            <c:spPr>
              <a:solidFill>
                <a:srgbClr val="00A6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29C-4962-94BF-AE820B77723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29C-4962-94BF-AE820B77723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29C-4962-94BF-AE820B77723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29C-4962-94BF-AE820B77723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In-store</c:v>
                </c:pt>
                <c:pt idx="1">
                  <c:v>Outlet</c:v>
                </c:pt>
                <c:pt idx="2">
                  <c:v>Online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39.630000000000003</c:v>
                </c:pt>
                <c:pt idx="1">
                  <c:v>32.85</c:v>
                </c:pt>
                <c:pt idx="2">
                  <c:v>27.52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29C-4962-94BF-AE820B7772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4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Profit Method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0AC-4433-834E-144B714FC6C7}"/>
              </c:ext>
            </c:extLst>
          </c:dPt>
          <c:dPt>
            <c:idx val="1"/>
            <c:bubble3D val="0"/>
            <c:spPr>
              <a:solidFill>
                <a:srgbClr val="E91E6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0AC-4433-834E-144B714FC6C7}"/>
              </c:ext>
            </c:extLst>
          </c:dPt>
          <c:dPt>
            <c:idx val="2"/>
            <c:bubble3D val="0"/>
            <c:spPr>
              <a:solidFill>
                <a:srgbClr val="00A6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0AC-4433-834E-144B714FC6C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0AC-4433-834E-144B714FC6C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0AC-4433-834E-144B714FC6C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0AC-4433-834E-144B714FC6C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In-store</c:v>
                </c:pt>
                <c:pt idx="1">
                  <c:v>Outlet</c:v>
                </c:pt>
                <c:pt idx="2">
                  <c:v>Online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38.42</c:v>
                </c:pt>
                <c:pt idx="1">
                  <c:v>32.51</c:v>
                </c:pt>
                <c:pt idx="2">
                  <c:v>29.07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0AC-4433-834E-144B714FC6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4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Historical Profit</c:v>
                </c:pt>
              </c:strCache>
            </c:strRef>
          </c:tx>
          <c:spPr>
            <a:ln w="25400" cap="flat">
              <a:solidFill>
                <a:srgbClr val="00A65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A651"/>
              </a:solidFill>
              <a:ln w="9525" cap="flat">
                <a:solidFill>
                  <a:srgbClr val="00A65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4A4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Jan-20</c:v>
                </c:pt>
                <c:pt idx="1">
                  <c:v>Apr-20</c:v>
                </c:pt>
                <c:pt idx="2">
                  <c:v>Jul-20</c:v>
                </c:pt>
                <c:pt idx="3">
                  <c:v>Oct-20</c:v>
                </c:pt>
                <c:pt idx="4">
                  <c:v>Jan-21</c:v>
                </c:pt>
                <c:pt idx="5">
                  <c:v>Apr-21</c:v>
                </c:pt>
                <c:pt idx="6">
                  <c:v>Jul-21</c:v>
                </c:pt>
                <c:pt idx="7">
                  <c:v>Oct-21</c:v>
                </c:pt>
                <c:pt idx="8">
                  <c:v>Jan-22</c:v>
                </c:pt>
                <c:pt idx="9">
                  <c:v>Apr-22</c:v>
                </c:pt>
                <c:pt idx="10">
                  <c:v>Jul-22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6</c:v>
                </c:pt>
                <c:pt idx="1">
                  <c:v>6</c:v>
                </c:pt>
                <c:pt idx="2">
                  <c:v>2</c:v>
                </c:pt>
                <c:pt idx="3">
                  <c:v>4</c:v>
                </c:pt>
                <c:pt idx="4">
                  <c:v>3</c:v>
                </c:pt>
                <c:pt idx="5">
                  <c:v>16</c:v>
                </c:pt>
                <c:pt idx="6">
                  <c:v>24</c:v>
                </c:pt>
                <c:pt idx="7">
                  <c:v>21</c:v>
                </c:pt>
                <c:pt idx="8">
                  <c:v>29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778-42A3-9D8D-2B38AB3973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Forecasted Profit</c:v>
                </c:pt>
              </c:strCache>
            </c:strRef>
          </c:tx>
          <c:spPr>
            <a:ln w="25400" cap="flat">
              <a:solidFill>
                <a:srgbClr val="AAAAA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AAAAA"/>
              </a:solidFill>
              <a:ln w="9525" cap="flat">
                <a:solidFill>
                  <a:srgbClr val="AAAAAA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4A4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Jan-20</c:v>
                </c:pt>
                <c:pt idx="1">
                  <c:v>Apr-20</c:v>
                </c:pt>
                <c:pt idx="2">
                  <c:v>Jul-20</c:v>
                </c:pt>
                <c:pt idx="3">
                  <c:v>Oct-20</c:v>
                </c:pt>
                <c:pt idx="4">
                  <c:v>Jan-21</c:v>
                </c:pt>
                <c:pt idx="5">
                  <c:v>Apr-21</c:v>
                </c:pt>
                <c:pt idx="6">
                  <c:v>Jul-21</c:v>
                </c:pt>
                <c:pt idx="7">
                  <c:v>Oct-21</c:v>
                </c:pt>
                <c:pt idx="8">
                  <c:v>Jan-22</c:v>
                </c:pt>
                <c:pt idx="9">
                  <c:v>Apr-22</c:v>
                </c:pt>
                <c:pt idx="10">
                  <c:v>Jul-22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29</c:v>
                </c:pt>
                <c:pt idx="9">
                  <c:v>38</c:v>
                </c:pt>
                <c:pt idx="10">
                  <c:v>35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778-42A3-9D8D-2B38AB39731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Historical Sales</c:v>
                </c:pt>
              </c:strCache>
            </c:strRef>
          </c:tx>
          <c:spPr>
            <a:ln w="25400" cap="flat">
              <a:solidFill>
                <a:srgbClr val="E91E6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91E63"/>
              </a:solidFill>
              <a:ln w="9525" cap="flat">
                <a:solidFill>
                  <a:srgbClr val="E91E63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4A4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Jan-20</c:v>
                </c:pt>
                <c:pt idx="1">
                  <c:v>Apr-20</c:v>
                </c:pt>
                <c:pt idx="2">
                  <c:v>Jul-20</c:v>
                </c:pt>
                <c:pt idx="3">
                  <c:v>Oct-20</c:v>
                </c:pt>
                <c:pt idx="4">
                  <c:v>Jan-21</c:v>
                </c:pt>
                <c:pt idx="5">
                  <c:v>Apr-21</c:v>
                </c:pt>
                <c:pt idx="6">
                  <c:v>Jul-21</c:v>
                </c:pt>
                <c:pt idx="7">
                  <c:v>Oct-21</c:v>
                </c:pt>
                <c:pt idx="8">
                  <c:v>Jan-22</c:v>
                </c:pt>
                <c:pt idx="9">
                  <c:v>Apr-22</c:v>
                </c:pt>
                <c:pt idx="10">
                  <c:v>Jul-22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16</c:v>
                </c:pt>
                <c:pt idx="1">
                  <c:v>18</c:v>
                </c:pt>
                <c:pt idx="2">
                  <c:v>9</c:v>
                </c:pt>
                <c:pt idx="3">
                  <c:v>11</c:v>
                </c:pt>
                <c:pt idx="4">
                  <c:v>8</c:v>
                </c:pt>
                <c:pt idx="5">
                  <c:v>46</c:v>
                </c:pt>
                <c:pt idx="6">
                  <c:v>64</c:v>
                </c:pt>
                <c:pt idx="7">
                  <c:v>53</c:v>
                </c:pt>
                <c:pt idx="8">
                  <c:v>78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92D-46FE-BACB-FC2899DC53B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Forecasted Sales</c:v>
                </c:pt>
              </c:strCache>
            </c:strRef>
          </c:tx>
          <c:spPr>
            <a:ln w="25400" cap="flat">
              <a:solidFill>
                <a:srgbClr val="AAAAA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AAAAA"/>
              </a:solidFill>
              <a:ln w="9525" cap="flat">
                <a:solidFill>
                  <a:srgbClr val="AAAAAA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4A4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Jan-20</c:v>
                </c:pt>
                <c:pt idx="1">
                  <c:v>Apr-20</c:v>
                </c:pt>
                <c:pt idx="2">
                  <c:v>Jul-20</c:v>
                </c:pt>
                <c:pt idx="3">
                  <c:v>Oct-20</c:v>
                </c:pt>
                <c:pt idx="4">
                  <c:v>Jan-21</c:v>
                </c:pt>
                <c:pt idx="5">
                  <c:v>Apr-21</c:v>
                </c:pt>
                <c:pt idx="6">
                  <c:v>Jul-21</c:v>
                </c:pt>
                <c:pt idx="7">
                  <c:v>Oct-21</c:v>
                </c:pt>
                <c:pt idx="8">
                  <c:v>Jan-22</c:v>
                </c:pt>
                <c:pt idx="9">
                  <c:v>Apr-22</c:v>
                </c:pt>
                <c:pt idx="10">
                  <c:v>Jul-22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78</c:v>
                </c:pt>
                <c:pt idx="9">
                  <c:v>115</c:v>
                </c:pt>
                <c:pt idx="10">
                  <c:v>108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892D-46FE-BACB-FC2899DC53B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3751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0EE0A-0400-C0A9-B6B0-EC4AC7559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75B2F8-ACA9-D919-0721-4BB37F298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A846A4-D6A2-1998-F8B0-F83BE9C512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6D659B-EB45-0019-ECA1-4B795293AA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4547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274320" cy="51435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0"/>
            <a:ext cx="274320" cy="51435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0"/>
            <a:ext cx="274320" cy="51435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31925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ANALYTICS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8620" y="81067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Adidas Sales &amp;</a:t>
            </a:r>
            <a:endParaRPr lang="en-US" sz="5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Profit Analysis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3041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 2020 – 2021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389425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overview of revenue, profitability, product mix and channel performance</a:t>
            </a:r>
            <a:endParaRPr lang="en-US" sz="12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F7D9A1F5-D052-520C-80A7-455982B712CA}"/>
              </a:ext>
            </a:extLst>
          </p:cNvPr>
          <p:cNvSpPr/>
          <p:nvPr/>
        </p:nvSpPr>
        <p:spPr>
          <a:xfrm>
            <a:off x="457200" y="4081370"/>
            <a:ext cx="24566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Hady Amr</a:t>
            </a:r>
          </a:p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April , 2026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71DCEC-5B9C-3E6F-DF6E-64A8D3127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F8D2366-A9B5-7184-CC26-E4D1AD4A1332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A30A441-BF3A-D8BE-B189-C52A4575DC20}"/>
              </a:ext>
            </a:extLst>
          </p:cNvPr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FE525A8-0F45-8C3C-7B56-B2CB95F5627D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C7E5F5B-4DF3-4B64-642B-91B9397F6B5C}"/>
              </a:ext>
            </a:extLst>
          </p:cNvPr>
          <p:cNvSpPr/>
          <p:nvPr/>
        </p:nvSpPr>
        <p:spPr>
          <a:xfrm>
            <a:off x="164592" y="810670"/>
            <a:ext cx="7772400" cy="4362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Goals of our discussion</a:t>
            </a:r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D9EB597-0E32-957E-9907-DC52A9849DC6}"/>
              </a:ext>
            </a:extLst>
          </p:cNvPr>
          <p:cNvSpPr/>
          <p:nvPr/>
        </p:nvSpPr>
        <p:spPr>
          <a:xfrm>
            <a:off x="310339" y="1502877"/>
            <a:ext cx="7887671" cy="9705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B050"/>
                </a:solidFill>
              </a:rPr>
              <a:t>Monthly Sales &amp; Profitability Trend Analysis:</a:t>
            </a:r>
            <a:endParaRPr lang="ar-EG" sz="2400" b="1" dirty="0">
              <a:solidFill>
                <a:srgbClr val="00B050"/>
              </a:solidFill>
            </a:endParaRPr>
          </a:p>
          <a:p>
            <a:r>
              <a:rPr lang="en-US" sz="2000" b="1" dirty="0">
                <a:solidFill>
                  <a:schemeClr val="tx2"/>
                </a:solidFill>
              </a:rPr>
              <a:t>Show peak and decline months in sales and profit across the month and forecasting sales and profit.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D76DCB2-5DB8-A189-E4D2-C7F2372B510F}"/>
              </a:ext>
            </a:extLst>
          </p:cNvPr>
          <p:cNvSpPr/>
          <p:nvPr/>
        </p:nvSpPr>
        <p:spPr>
          <a:xfrm>
            <a:off x="310336" y="2549239"/>
            <a:ext cx="7887671" cy="970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B050"/>
                </a:solidFill>
              </a:rPr>
              <a:t>Product Optimization:</a:t>
            </a:r>
            <a:endParaRPr lang="ar-EG" sz="2400" b="1" dirty="0">
              <a:solidFill>
                <a:srgbClr val="00B050"/>
              </a:solidFill>
            </a:endParaRPr>
          </a:p>
          <a:p>
            <a:r>
              <a:rPr lang="en-US" sz="2000" b="1" dirty="0">
                <a:solidFill>
                  <a:schemeClr val="tx2"/>
                </a:solidFill>
              </a:rPr>
              <a:t>Knowing the sales, profits and quantities of each product in analytical period.</a:t>
            </a: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C520573A-3F85-B4A4-ABD5-B6DF412BD7A9}"/>
              </a:ext>
            </a:extLst>
          </p:cNvPr>
          <p:cNvSpPr/>
          <p:nvPr/>
        </p:nvSpPr>
        <p:spPr>
          <a:xfrm>
            <a:off x="310337" y="3526671"/>
            <a:ext cx="7887671" cy="970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B050"/>
                </a:solidFill>
              </a:rPr>
              <a:t>Sales and profit distribution: </a:t>
            </a:r>
            <a:endParaRPr lang="ar-EG" sz="2400" b="1" dirty="0">
              <a:solidFill>
                <a:srgbClr val="00B050"/>
              </a:solidFill>
            </a:endParaRPr>
          </a:p>
          <a:p>
            <a:r>
              <a:rPr lang="en-US" sz="2000" b="1" dirty="0">
                <a:solidFill>
                  <a:schemeClr val="tx2"/>
                </a:solidFill>
              </a:rPr>
              <a:t>Visualizing sales and profit by distribution methods </a:t>
            </a:r>
          </a:p>
        </p:txBody>
      </p:sp>
    </p:spTree>
    <p:extLst>
      <p:ext uri="{BB962C8B-B14F-4D97-AF65-F5344CB8AC3E}">
        <p14:creationId xmlns:p14="http://schemas.microsoft.com/office/powerpoint/2010/main" val="3923081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(vs 2020)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19" y="868680"/>
            <a:ext cx="2785937" cy="2184525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19" y="868680"/>
            <a:ext cx="2785937" cy="91440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0972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ar-EG" sz="3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899.9 </a:t>
            </a:r>
            <a:r>
              <a:rPr lang="en-US" sz="3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38912" y="216712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6F9EF"/>
          </a:solidFill>
          <a:ln w="12700">
            <a:solidFill>
              <a:srgbClr val="B3EE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16712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+294.23%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" y="2515985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2020–2021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" y="2824605"/>
            <a:ext cx="24231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870325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 2021 DATA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27832" y="868680"/>
            <a:ext cx="2743200" cy="2184525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27832" y="868680"/>
            <a:ext cx="2743200" cy="91440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92424" y="10972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PROFIT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19272" y="14630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332.13M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3392424" y="2164634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6F9EF"/>
          </a:solidFill>
          <a:ln w="12700">
            <a:solidFill>
              <a:srgbClr val="B3EE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92424" y="216463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+324.07%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92424" y="2515985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2020–2021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92424" y="2824605"/>
            <a:ext cx="24231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92424" y="2870325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 2021 DATA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190487" y="868680"/>
            <a:ext cx="2828821" cy="2184525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190488" y="868680"/>
            <a:ext cx="2828820" cy="91440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10972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SOLD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81928" y="1463040"/>
            <a:ext cx="26791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2,478,861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6342472" y="2168927"/>
            <a:ext cx="1840438" cy="376861"/>
          </a:xfrm>
          <a:prstGeom prst="roundRect">
            <a:avLst>
              <a:gd name="adj" fmla="val 19048"/>
            </a:avLst>
          </a:prstGeom>
          <a:solidFill>
            <a:srgbClr val="E6F9EF"/>
          </a:solidFill>
          <a:ln w="12700">
            <a:solidFill>
              <a:srgbClr val="B3EE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7648" y="2165682"/>
            <a:ext cx="18953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 of All Products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2515985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55080" y="2824605"/>
            <a:ext cx="24231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2870325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 2021 DATA</a:t>
            </a:r>
            <a:endParaRPr lang="en-US" sz="800" dirty="0"/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3FF14052-CACA-2DCF-D060-8EE17B48FA72}"/>
              </a:ext>
            </a:extLst>
          </p:cNvPr>
          <p:cNvSpPr/>
          <p:nvPr/>
        </p:nvSpPr>
        <p:spPr>
          <a:xfrm>
            <a:off x="265176" y="3133226"/>
            <a:ext cx="8754131" cy="1715865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26234A17-8B44-B458-1295-8D30859F3344}"/>
              </a:ext>
            </a:extLst>
          </p:cNvPr>
          <p:cNvSpPr/>
          <p:nvPr/>
        </p:nvSpPr>
        <p:spPr>
          <a:xfrm>
            <a:off x="6355079" y="251204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2020–2021</a:t>
            </a:r>
            <a:endParaRPr lang="en-US" sz="1000" dirty="0"/>
          </a:p>
        </p:txBody>
      </p:sp>
      <p:sp>
        <p:nvSpPr>
          <p:cNvPr id="46" name="Shape 14">
            <a:extLst>
              <a:ext uri="{FF2B5EF4-FFF2-40B4-BE49-F238E27FC236}">
                <a16:creationId xmlns:a16="http://schemas.microsoft.com/office/drawing/2014/main" id="{310E7C91-72E3-F2F8-3D78-69BA30412DB6}"/>
              </a:ext>
            </a:extLst>
          </p:cNvPr>
          <p:cNvSpPr/>
          <p:nvPr/>
        </p:nvSpPr>
        <p:spPr>
          <a:xfrm>
            <a:off x="265175" y="3154558"/>
            <a:ext cx="8754134" cy="100705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4BD44E97-F2C7-EA16-D97A-FB06D6BBB862}"/>
              </a:ext>
            </a:extLst>
          </p:cNvPr>
          <p:cNvSpPr/>
          <p:nvPr/>
        </p:nvSpPr>
        <p:spPr>
          <a:xfrm>
            <a:off x="698574" y="3550221"/>
            <a:ext cx="8320733" cy="402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i="1" dirty="0">
                <a:solidFill>
                  <a:srgbClr val="00B050"/>
                </a:solidFill>
                <a:latin typeface="Arial" pitchFamily="34" charset="0"/>
                <a:cs typeface="Arial" pitchFamily="34" charset="-120"/>
              </a:rPr>
              <a:t>Exceptional Revenue Growth: </a:t>
            </a:r>
            <a:r>
              <a:rPr lang="en-US" sz="1000" i="1" dirty="0">
                <a:solidFill>
                  <a:srgbClr val="888888"/>
                </a:solidFill>
                <a:latin typeface="Arial" pitchFamily="34" charset="0"/>
                <a:cs typeface="Arial" pitchFamily="34" charset="-120"/>
              </a:rPr>
              <a:t>Sales achieved a massive surge with a growth rate of 294.23%, indicating significant market share expansion or a highly successful sales strategy.</a:t>
            </a:r>
          </a:p>
        </p:txBody>
      </p:sp>
      <p:sp>
        <p:nvSpPr>
          <p:cNvPr id="48" name="Text 10">
            <a:extLst>
              <a:ext uri="{FF2B5EF4-FFF2-40B4-BE49-F238E27FC236}">
                <a16:creationId xmlns:a16="http://schemas.microsoft.com/office/drawing/2014/main" id="{D0812F6E-5AB9-8C60-5048-31A9D2FD89F9}"/>
              </a:ext>
            </a:extLst>
          </p:cNvPr>
          <p:cNvSpPr/>
          <p:nvPr/>
        </p:nvSpPr>
        <p:spPr>
          <a:xfrm>
            <a:off x="698574" y="3953039"/>
            <a:ext cx="8320735" cy="402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i="1" dirty="0">
                <a:solidFill>
                  <a:srgbClr val="00B050"/>
                </a:solidFill>
                <a:latin typeface="Arial" pitchFamily="34" charset="0"/>
                <a:cs typeface="Arial" pitchFamily="34" charset="-120"/>
              </a:rPr>
              <a:t>High Operational Efficiency: </a:t>
            </a:r>
            <a:r>
              <a:rPr lang="en-US" sz="1000" i="1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-120"/>
              </a:rPr>
              <a:t>Operating profit growth (324.07%) outperformed sales growth, demonstrating improved cost management and enhanced profit margins.</a:t>
            </a:r>
          </a:p>
        </p:txBody>
      </p:sp>
      <p:sp>
        <p:nvSpPr>
          <p:cNvPr id="49" name="Text 6">
            <a:extLst>
              <a:ext uri="{FF2B5EF4-FFF2-40B4-BE49-F238E27FC236}">
                <a16:creationId xmlns:a16="http://schemas.microsoft.com/office/drawing/2014/main" id="{351573CF-550A-5E29-A9E0-463CA9FD234A}"/>
              </a:ext>
            </a:extLst>
          </p:cNvPr>
          <p:cNvSpPr/>
          <p:nvPr/>
        </p:nvSpPr>
        <p:spPr>
          <a:xfrm>
            <a:off x="274319" y="3291216"/>
            <a:ext cx="130156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0" name="Text 6">
            <a:extLst>
              <a:ext uri="{FF2B5EF4-FFF2-40B4-BE49-F238E27FC236}">
                <a16:creationId xmlns:a16="http://schemas.microsoft.com/office/drawing/2014/main" id="{503E92C8-7A66-3C73-32DA-6DFED70FD804}"/>
              </a:ext>
            </a:extLst>
          </p:cNvPr>
          <p:cNvSpPr/>
          <p:nvPr/>
        </p:nvSpPr>
        <p:spPr>
          <a:xfrm>
            <a:off x="686707" y="3291216"/>
            <a:ext cx="17215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 </a:t>
            </a:r>
            <a:endParaRPr lang="en-US" sz="10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1" name="Text 10">
            <a:extLst>
              <a:ext uri="{FF2B5EF4-FFF2-40B4-BE49-F238E27FC236}">
                <a16:creationId xmlns:a16="http://schemas.microsoft.com/office/drawing/2014/main" id="{DEDB2639-8B2C-FBD6-2FDB-443DBA66E1EE}"/>
              </a:ext>
            </a:extLst>
          </p:cNvPr>
          <p:cNvSpPr/>
          <p:nvPr/>
        </p:nvSpPr>
        <p:spPr>
          <a:xfrm>
            <a:off x="686707" y="4345287"/>
            <a:ext cx="8274413" cy="402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i="1" dirty="0">
                <a:solidFill>
                  <a:srgbClr val="00B050"/>
                </a:solidFill>
                <a:latin typeface="Arial" pitchFamily="34" charset="0"/>
                <a:cs typeface="Arial" pitchFamily="34" charset="-120"/>
              </a:rPr>
              <a:t>Strong Quantitative Performance: </a:t>
            </a:r>
            <a:r>
              <a:rPr lang="en-US" sz="1000" i="1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-120"/>
              </a:rPr>
              <a:t>Approximately 2.48 million units were sold, reflecting robust production and logistical capabilities that fueled this financial growth during FY 2021</a:t>
            </a:r>
            <a:r>
              <a:rPr lang="en-US" sz="1000" b="1" i="1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-120"/>
              </a:rPr>
              <a:t>.</a:t>
            </a:r>
            <a:endParaRPr lang="en-US" sz="1000" i="1" dirty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6A32C7-FFBF-2AA1-13C3-974A6E5BBD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43"/>
          <a:stretch>
            <a:fillRect/>
          </a:stretch>
        </p:blipFill>
        <p:spPr>
          <a:xfrm>
            <a:off x="4267199" y="810670"/>
            <a:ext cx="4804399" cy="4073057"/>
          </a:xfrm>
          <a:prstGeom prst="rect">
            <a:avLst/>
          </a:prstGeom>
        </p:spPr>
      </p:pic>
      <p:sp>
        <p:nvSpPr>
          <p:cNvPr id="4" name="Text 5">
            <a:extLst>
              <a:ext uri="{FF2B5EF4-FFF2-40B4-BE49-F238E27FC236}">
                <a16:creationId xmlns:a16="http://schemas.microsoft.com/office/drawing/2014/main" id="{638F7DEB-C91D-9C07-6752-9DA4B2663080}"/>
              </a:ext>
            </a:extLst>
          </p:cNvPr>
          <p:cNvSpPr/>
          <p:nvPr/>
        </p:nvSpPr>
        <p:spPr>
          <a:xfrm>
            <a:off x="164592" y="810670"/>
            <a:ext cx="4407408" cy="9142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Count of states in 2020 is 9</a:t>
            </a:r>
          </a:p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Count of states in 2021 is 50</a:t>
            </a: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D389B7F2-2FFC-59B0-C3C3-15DB155056B4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0FDD5B43-5119-6B81-7ECF-1C1A74D901D8}"/>
              </a:ext>
            </a:extLst>
          </p:cNvPr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751797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SALES &amp; PROFIT TRENDS By Millions  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438527766"/>
              </p:ext>
            </p:extLst>
          </p:nvPr>
        </p:nvGraphicFramePr>
        <p:xfrm>
          <a:off x="3365770" y="796413"/>
          <a:ext cx="5412470" cy="38670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Adidas Monthly Sales Dashboard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PERFORMANCE BREAKDOWN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 (2020–2021)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8641220"/>
              </p:ext>
            </p:extLst>
          </p:nvPr>
        </p:nvGraphicFramePr>
        <p:xfrm>
          <a:off x="274320" y="1143000"/>
          <a:ext cx="4114800" cy="189203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Product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Total Sales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Units Sold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Men's Street Footwear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875A"/>
                          </a:solidFill>
                        </a:rPr>
                        <a:t>$208.8M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593,320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Women's Apparel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875A"/>
                          </a:solidFill>
                        </a:rPr>
                        <a:t>$179.0M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433,827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Men's Athletic Footwear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875A"/>
                          </a:solidFill>
                        </a:rPr>
                        <a:t>$153.7M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435,526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Women's Street Footwear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875A"/>
                          </a:solidFill>
                        </a:rPr>
                        <a:t>$128.0M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392,269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Men's Apparel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875A"/>
                          </a:solidFill>
                        </a:rPr>
                        <a:t>$123.7M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306,683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Women's Athletic Footwear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875A"/>
                          </a:solidFill>
                        </a:rPr>
                        <a:t>$106.6M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317,236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875A"/>
                          </a:solidFill>
                        </a:rPr>
                        <a:t>$899.9M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</a:rPr>
                        <a:t>2,478,861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8229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PROFIT (2020–2021)</a:t>
            </a:r>
            <a:endParaRPr lang="en-US" sz="10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152382"/>
              </p:ext>
            </p:extLst>
          </p:nvPr>
        </p:nvGraphicFramePr>
        <p:xfrm>
          <a:off x="4754880" y="1143000"/>
          <a:ext cx="3063240" cy="189203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Product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Op. Profit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Men's Street Footwear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875A"/>
                          </a:solidFill>
                        </a:rPr>
                        <a:t>$82.8M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Women's Apparel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875A"/>
                          </a:solidFill>
                        </a:rPr>
                        <a:t>$68.7M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Men's Athletic Footwear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875A"/>
                          </a:solidFill>
                        </a:rPr>
                        <a:t>$51.8M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Women's Street Footwear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875A"/>
                          </a:solidFill>
                        </a:rPr>
                        <a:t>$45.1M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Men's Apparel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875A"/>
                          </a:solidFill>
                        </a:rPr>
                        <a:t>$44.8M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Women's Athletic Footwear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875A"/>
                          </a:solidFill>
                        </a:rPr>
                        <a:t>$39.0M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875A"/>
                          </a:solidFill>
                        </a:rPr>
                        <a:t>$332.1M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74320" y="46634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Men's Street Footwear leads both sales and profit across both years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CHANNEL DISTRIBUTION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SALES CHANNEL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188720"/>
          <a:ext cx="40233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846320" y="822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PROFIT METHOD</a:t>
            </a:r>
            <a:endParaRPr lang="en-US" sz="10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4846320" y="1188720"/>
          <a:ext cx="40233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4480560" y="822960"/>
            <a:ext cx="0" cy="3657600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</p:sp>
      <p:sp>
        <p:nvSpPr>
          <p:cNvPr id="10" name="Shape 6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B3EED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In-store is the dominant channel (~39%), followed closely by Outlet (~33%) and Online (~27-29%) for both metrics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FORECASTING OUTLOOK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739938" y="777240"/>
            <a:ext cx="277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PROJECTION (Millions)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660677997"/>
              </p:ext>
            </p:extLst>
          </p:nvPr>
        </p:nvGraphicFramePr>
        <p:xfrm>
          <a:off x="4911436" y="1051560"/>
          <a:ext cx="4013662" cy="23083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791747"/>
            <a:ext cx="253815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PROJECTION (Millions)</a:t>
            </a:r>
            <a:endParaRPr lang="en-US" sz="1000" dirty="0"/>
          </a:p>
        </p:txBody>
      </p:sp>
      <p:graphicFrame>
        <p:nvGraphicFramePr>
          <p:cNvPr id="8" name="Chart 1"/>
          <p:cNvGraphicFramePr/>
          <p:nvPr>
            <p:extLst>
              <p:ext uri="{D42A27DB-BD31-4B8C-83A1-F6EECF244321}">
                <p14:modId xmlns:p14="http://schemas.microsoft.com/office/powerpoint/2010/main" val="3066595773"/>
              </p:ext>
            </p:extLst>
          </p:nvPr>
        </p:nvGraphicFramePr>
        <p:xfrm>
          <a:off x="82296" y="1051560"/>
          <a:ext cx="3611880" cy="23083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0" y="487375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Forecasts indicate continued upward momentum into H1 2022 across all product lines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 &amp; TAKEAWAYS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173736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64008" cy="1737360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069848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6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24128" y="11247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1527048"/>
            <a:ext cx="3794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 grew by 294% YoY, from ~$183M (2020) to ~$717.8M (2021), driven by product diversification and channel expansion.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114800" cy="173736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64008" cy="1737360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069848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6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13248" y="11247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SURGE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19472" y="1527048"/>
            <a:ext cx="3794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profit jumped 324% in 2021 vs 2020, with operating margin improving significantly. Men's Street Footwear is the star performer ($82.8M profit).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4114800" cy="173736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26080"/>
            <a:ext cx="64008" cy="1737360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035808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6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24128" y="30906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MIX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" y="3493008"/>
            <a:ext cx="3794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In-store remains the dominant channel at ~39%, but Online is gaining momentum at ~27–29%, signaling a digital shift in consumer behavior.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926080"/>
            <a:ext cx="4114800" cy="173736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926080"/>
            <a:ext cx="64008" cy="1737360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3035808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6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13248" y="30906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FORECAST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19472" y="3493008"/>
            <a:ext cx="3794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Projections indicate sustained growth with monthly sales forecasted between $100–120M and profit around $35–45M in early 2022.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A6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640080" cy="5143500"/>
          </a:xfrm>
          <a:prstGeom prst="rect">
            <a:avLst/>
          </a:prstGeom>
          <a:solidFill>
            <a:srgbClr val="009940"/>
          </a:solidFill>
          <a:ln w="12700">
            <a:solidFill>
              <a:srgbClr val="0099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60920" y="0"/>
            <a:ext cx="640080" cy="5143500"/>
          </a:xfrm>
          <a:prstGeom prst="rect">
            <a:avLst/>
          </a:prstGeom>
          <a:solidFill>
            <a:srgbClr val="009940"/>
          </a:solidFill>
          <a:ln w="12700">
            <a:solidFill>
              <a:srgbClr val="0099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0"/>
            <a:ext cx="640080" cy="5143500"/>
          </a:xfrm>
          <a:prstGeom prst="rect">
            <a:avLst/>
          </a:prstGeom>
          <a:solidFill>
            <a:srgbClr val="009940"/>
          </a:solidFill>
          <a:ln w="12700">
            <a:solidFill>
              <a:srgbClr val="0099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adidas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 Is Nothing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6576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9260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Period: FY 2020 – FY 2021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figures in USD  |  Adidas Data Intelligence Team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6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557</Words>
  <Application>Microsoft Office PowerPoint</Application>
  <PresentationFormat>On-screen Show (16:9)</PresentationFormat>
  <Paragraphs>125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Adidas Sales &amp; Profit Analysis</dc:title>
  <dc:subject>PptxGenJS Presentation</dc:subject>
  <dc:creator>PptxGenJS</dc:creator>
  <cp:lastModifiedBy>Hady Amr</cp:lastModifiedBy>
  <cp:revision>2</cp:revision>
  <dcterms:created xsi:type="dcterms:W3CDTF">2026-04-25T17:24:20Z</dcterms:created>
  <dcterms:modified xsi:type="dcterms:W3CDTF">2026-04-25T21:18:47Z</dcterms:modified>
</cp:coreProperties>
</file>